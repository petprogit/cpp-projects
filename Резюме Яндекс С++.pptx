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6489700" cy="91821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ptos"/>
        <a:ea typeface="Aptos"/>
        <a:cs typeface="Aptos"/>
        <a:sym typeface="Apto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ptos"/>
          <a:ea typeface="Aptos"/>
          <a:cs typeface="Aptos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ptos"/>
          <a:ea typeface="Aptos"/>
          <a:cs typeface="Aptos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7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Arial"/>
      </a:defRPr>
    </a:lvl1pPr>
    <a:lvl2pPr indent="228600" latinLnBrk="0">
      <a:defRPr sz="1200">
        <a:latin typeface="+mn-lt"/>
        <a:ea typeface="+mn-ea"/>
        <a:cs typeface="+mn-cs"/>
        <a:sym typeface="Arial"/>
      </a:defRPr>
    </a:lvl2pPr>
    <a:lvl3pPr indent="457200" latinLnBrk="0">
      <a:defRPr sz="1200">
        <a:latin typeface="+mn-lt"/>
        <a:ea typeface="+mn-ea"/>
        <a:cs typeface="+mn-cs"/>
        <a:sym typeface="Arial"/>
      </a:defRPr>
    </a:lvl3pPr>
    <a:lvl4pPr indent="685800" latinLnBrk="0">
      <a:defRPr sz="1200">
        <a:latin typeface="+mn-lt"/>
        <a:ea typeface="+mn-ea"/>
        <a:cs typeface="+mn-cs"/>
        <a:sym typeface="Arial"/>
      </a:defRPr>
    </a:lvl4pPr>
    <a:lvl5pPr indent="914400" latinLnBrk="0">
      <a:defRPr sz="1200">
        <a:latin typeface="+mn-lt"/>
        <a:ea typeface="+mn-ea"/>
        <a:cs typeface="+mn-cs"/>
        <a:sym typeface="Arial"/>
      </a:defRPr>
    </a:lvl5pPr>
    <a:lvl6pPr indent="1143000" latinLnBrk="0">
      <a:defRPr sz="1200">
        <a:latin typeface="+mn-lt"/>
        <a:ea typeface="+mn-ea"/>
        <a:cs typeface="+mn-cs"/>
        <a:sym typeface="Arial"/>
      </a:defRPr>
    </a:lvl6pPr>
    <a:lvl7pPr indent="1371600" latinLnBrk="0">
      <a:defRPr sz="1200">
        <a:latin typeface="+mn-lt"/>
        <a:ea typeface="+mn-ea"/>
        <a:cs typeface="+mn-cs"/>
        <a:sym typeface="Arial"/>
      </a:defRPr>
    </a:lvl7pPr>
    <a:lvl8pPr indent="1600200" latinLnBrk="0">
      <a:defRPr sz="1200">
        <a:latin typeface="+mn-lt"/>
        <a:ea typeface="+mn-ea"/>
        <a:cs typeface="+mn-cs"/>
        <a:sym typeface="Arial"/>
      </a:defRPr>
    </a:lvl8pPr>
    <a:lvl9pPr indent="1828800" latinLnBrk="0">
      <a:defRPr sz="12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87323" y="1503499"/>
            <a:ext cx="5522992" cy="319839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Текст заголовка</a:t>
            </a:r>
          </a:p>
        </p:txBody>
      </p:sp>
      <p:sp>
        <p:nvSpPr>
          <p:cNvPr id="12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812204" y="4825229"/>
            <a:ext cx="4873231" cy="221803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700"/>
            </a:lvl1pPr>
            <a:lvl2pPr marL="0" indent="0" algn="ctr">
              <a:buSzTx/>
              <a:buFontTx/>
              <a:buNone/>
              <a:defRPr sz="1700"/>
            </a:lvl2pPr>
            <a:lvl3pPr marL="0" indent="0" algn="ctr">
              <a:buSzTx/>
              <a:buFontTx/>
              <a:buNone/>
              <a:defRPr sz="1700"/>
            </a:lvl3pPr>
            <a:lvl4pPr marL="0" indent="0" algn="ctr">
              <a:buSzTx/>
              <a:buFontTx/>
              <a:buNone/>
              <a:defRPr sz="1700"/>
            </a:lvl4pPr>
            <a:lvl5pPr marL="0" indent="0" algn="ctr">
              <a:buSzTx/>
              <a:buFontTx/>
              <a:buNone/>
              <a:defRPr sz="17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21" name="Уровень текста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22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43327" y="2290339"/>
            <a:ext cx="5604216" cy="3821480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t>Текст заголовка</a:t>
            </a:r>
          </a:p>
        </p:txBody>
      </p:sp>
      <p:sp>
        <p:nvSpPr>
          <p:cNvPr id="30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43327" y="6147970"/>
            <a:ext cx="5604216" cy="200962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1pPr>
            <a:lvl2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2pPr>
            <a:lvl3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3pPr>
            <a:lvl4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4pPr>
            <a:lvl5pPr marL="0" indent="0">
              <a:buSzTx/>
              <a:buFontTx/>
              <a:buNone/>
              <a:defRPr sz="1700">
                <a:solidFill>
                  <a:srgbClr val="757575"/>
                </a:solidFill>
              </a:defRPr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3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39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446711" y="2445577"/>
            <a:ext cx="2761498" cy="5828980"/>
          </a:xfrm>
          <a:prstGeom prst="rect">
            <a:avLst/>
          </a:prstGeom>
        </p:spPr>
        <p:txBody>
          <a:bodyPr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47559" y="489115"/>
            <a:ext cx="5604213" cy="1775705"/>
          </a:xfrm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48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47559" y="2252058"/>
            <a:ext cx="2748808" cy="1103701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700"/>
            </a:lvl1pPr>
            <a:lvl2pPr marL="0" indent="0">
              <a:buSzTx/>
              <a:buFontTx/>
              <a:buNone/>
              <a:defRPr sz="1700"/>
            </a:lvl2pPr>
            <a:lvl3pPr marL="0" indent="0">
              <a:buSzTx/>
              <a:buFontTx/>
              <a:buNone/>
              <a:defRPr sz="1700"/>
            </a:lvl3pPr>
            <a:lvl4pPr marL="0" indent="0">
              <a:buSzTx/>
              <a:buFontTx/>
              <a:buNone/>
              <a:defRPr sz="1700"/>
            </a:lvl4pPr>
            <a:lvl5pPr marL="0" indent="0">
              <a:buSzTx/>
              <a:buFontTx/>
              <a:buNone/>
              <a:defRPr sz="17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3289429" y="2252058"/>
            <a:ext cx="2762344" cy="1103701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заголовка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Текст заголовка</a:t>
            </a:r>
          </a:p>
        </p:txBody>
      </p:sp>
      <p:sp>
        <p:nvSpPr>
          <p:cNvPr id="58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47559" y="612458"/>
            <a:ext cx="2095657" cy="2143601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r>
              <a:t>Текст заголовка</a:t>
            </a:r>
          </a:p>
        </p:txBody>
      </p:sp>
      <p:sp>
        <p:nvSpPr>
          <p:cNvPr id="73" name="Уровень текста 1…"/>
          <p:cNvSpPr txBox="1">
            <a:spLocks noGrp="1"/>
          </p:cNvSpPr>
          <p:nvPr>
            <p:ph type="body" sz="half" idx="1"/>
          </p:nvPr>
        </p:nvSpPr>
        <p:spPr>
          <a:xfrm>
            <a:off x="2762343" y="1322739"/>
            <a:ext cx="3289430" cy="6528629"/>
          </a:xfrm>
          <a:prstGeom prst="rect">
            <a:avLst/>
          </a:prstGeom>
        </p:spPr>
        <p:txBody>
          <a:bodyPr/>
          <a:lstStyle>
            <a:lvl1pPr>
              <a:defRPr sz="2200"/>
            </a:lvl1pPr>
            <a:lvl2pPr marL="512977" indent="-188090">
              <a:defRPr sz="2200"/>
            </a:lvl2pPr>
            <a:lvl3pPr marL="859992" indent="-210220">
              <a:defRPr sz="2200"/>
            </a:lvl3pPr>
            <a:lvl4pPr marL="1229925" indent="-255266">
              <a:defRPr sz="2200"/>
            </a:lvl4pPr>
            <a:lvl5pPr marL="1554811" indent="-255266">
              <a:defRPr sz="22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47559" y="2756057"/>
            <a:ext cx="2095658" cy="510594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47559" y="612458"/>
            <a:ext cx="2095657" cy="2143601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r>
              <a:t>Текст заголовка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762343" y="1322739"/>
            <a:ext cx="3289430" cy="652862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Уровень текста 1…"/>
          <p:cNvSpPr txBox="1">
            <a:spLocks noGrp="1"/>
          </p:cNvSpPr>
          <p:nvPr>
            <p:ph type="body" sz="quarter" idx="1"/>
          </p:nvPr>
        </p:nvSpPr>
        <p:spPr>
          <a:xfrm>
            <a:off x="447559" y="2756057"/>
            <a:ext cx="2095657" cy="510594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100"/>
            </a:lvl1pPr>
            <a:lvl2pPr marL="0" indent="0">
              <a:buSzTx/>
              <a:buFontTx/>
              <a:buNone/>
              <a:defRPr sz="1100"/>
            </a:lvl2pPr>
            <a:lvl3pPr marL="0" indent="0">
              <a:buSzTx/>
              <a:buFontTx/>
              <a:buNone/>
              <a:defRPr sz="1100"/>
            </a:lvl3pPr>
            <a:lvl4pPr marL="0" indent="0">
              <a:buSzTx/>
              <a:buFontTx/>
              <a:buNone/>
              <a:defRPr sz="1100"/>
            </a:lvl4pPr>
            <a:lvl5pPr marL="0" indent="0">
              <a:buSzTx/>
              <a:buFontTx/>
              <a:buNone/>
              <a:defRPr sz="1100"/>
            </a:lvl5pPr>
          </a:lstStyle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5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446711" y="489115"/>
            <a:ext cx="5604216" cy="1775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446711" y="2445577"/>
            <a:ext cx="5604216" cy="58289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5833778" y="8658213"/>
            <a:ext cx="217149" cy="202415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800">
                <a:solidFill>
                  <a:srgbClr val="757575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64977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162443" marR="0" indent="-162443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506439" marR="0" indent="-181553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870230" marR="0" indent="-220458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1231859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1556745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1881633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2206518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2531404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2856291" marR="0" indent="-257200" algn="l" defTabSz="649772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1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ochta@yandex.ru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t.me/sadguyfree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8372838">
            <a:off x="880532" y="6526138"/>
            <a:ext cx="6871566" cy="2849288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12"/>
          <p:cNvSpPr txBox="1"/>
          <p:nvPr/>
        </p:nvSpPr>
        <p:spPr>
          <a:xfrm>
            <a:off x="145130" y="1324075"/>
            <a:ext cx="3267765" cy="830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/>
              <a:t>Владислав</a:t>
            </a:r>
            <a:endParaRPr dirty="0"/>
          </a:p>
          <a:p>
            <a:pPr>
              <a:defRPr sz="1600"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/>
              <a:t>Александрович</a:t>
            </a:r>
            <a:r>
              <a:rPr dirty="0"/>
              <a:t> </a:t>
            </a:r>
            <a:br>
              <a:rPr lang="ru-RU" dirty="0"/>
            </a:br>
            <a:r>
              <a:rPr lang="ru-RU" dirty="0"/>
              <a:t>Мокринский</a:t>
            </a:r>
            <a:endParaRPr dirty="0"/>
          </a:p>
        </p:txBody>
      </p:sp>
      <p:sp>
        <p:nvSpPr>
          <p:cNvPr id="96" name="TextBox 13"/>
          <p:cNvSpPr txBox="1"/>
          <p:nvPr/>
        </p:nvSpPr>
        <p:spPr>
          <a:xfrm>
            <a:off x="2234625" y="1654350"/>
            <a:ext cx="1891816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>
            <a:lvl1pPr algn="r">
              <a:defRPr sz="1000" u="sng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+mn-lt"/>
                <a:ea typeface="+mn-ea"/>
                <a:cs typeface="+mn-cs"/>
                <a:sym typeface="Arial"/>
                <a:hlinkClick r:id="rId3"/>
              </a:defRPr>
            </a:lvl1pPr>
          </a:lstStyle>
          <a:p>
            <a:pPr>
              <a:defRPr>
                <a:solidFill>
                  <a:srgbClr val="467886"/>
                </a:solidFill>
                <a:uFill>
                  <a:solidFill>
                    <a:srgbClr val="467886"/>
                  </a:solidFill>
                </a:uFill>
              </a:defRPr>
            </a:pPr>
            <a:r>
              <a:rPr lang="en-US" dirty="0"/>
              <a:t>educatttaccmva54@gmail.com</a:t>
            </a:r>
            <a:endParaRPr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hlinkClick r:id="rId3"/>
            </a:endParaRPr>
          </a:p>
        </p:txBody>
      </p:sp>
      <p:sp>
        <p:nvSpPr>
          <p:cNvPr id="97" name="TextBox 14"/>
          <p:cNvSpPr txBox="1"/>
          <p:nvPr/>
        </p:nvSpPr>
        <p:spPr>
          <a:xfrm>
            <a:off x="2840327" y="1867682"/>
            <a:ext cx="1286113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0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+7 (9</a:t>
            </a:r>
            <a:r>
              <a:rPr lang="ru-RU" dirty="0"/>
              <a:t>13</a:t>
            </a:r>
            <a:r>
              <a:rPr dirty="0"/>
              <a:t>)</a:t>
            </a:r>
            <a:r>
              <a:rPr lang="ru-RU" dirty="0"/>
              <a:t> 465-65-24</a:t>
            </a:r>
            <a:endParaRPr dirty="0"/>
          </a:p>
        </p:txBody>
      </p:sp>
      <p:sp>
        <p:nvSpPr>
          <p:cNvPr id="98" name="TextBox 16"/>
          <p:cNvSpPr txBox="1"/>
          <p:nvPr/>
        </p:nvSpPr>
        <p:spPr>
          <a:xfrm>
            <a:off x="185538" y="3134654"/>
            <a:ext cx="1992458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Образование</a:t>
            </a:r>
          </a:p>
        </p:txBody>
      </p:sp>
      <p:sp>
        <p:nvSpPr>
          <p:cNvPr id="99" name="TextBox 17"/>
          <p:cNvSpPr txBox="1"/>
          <p:nvPr/>
        </p:nvSpPr>
        <p:spPr>
          <a:xfrm>
            <a:off x="660937" y="3530892"/>
            <a:ext cx="1992458" cy="264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 err="1"/>
              <a:t>Университет</a:t>
            </a:r>
            <a:endParaRPr dirty="0"/>
          </a:p>
        </p:txBody>
      </p:sp>
      <p:sp>
        <p:nvSpPr>
          <p:cNvPr id="100" name="TextBox 18"/>
          <p:cNvSpPr txBox="1"/>
          <p:nvPr/>
        </p:nvSpPr>
        <p:spPr>
          <a:xfrm>
            <a:off x="658411" y="3735393"/>
            <a:ext cx="1286112" cy="2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202</a:t>
            </a:r>
            <a:r>
              <a:rPr lang="ru-RU" dirty="0"/>
              <a:t>5</a:t>
            </a:r>
            <a:r>
              <a:rPr dirty="0"/>
              <a:t> — 202</a:t>
            </a:r>
            <a:r>
              <a:rPr lang="ru-RU" dirty="0"/>
              <a:t>9</a:t>
            </a:r>
            <a:endParaRPr dirty="0"/>
          </a:p>
        </p:txBody>
      </p:sp>
      <p:sp>
        <p:nvSpPr>
          <p:cNvPr id="101" name="TextBox 19"/>
          <p:cNvSpPr txBox="1"/>
          <p:nvPr/>
        </p:nvSpPr>
        <p:spPr>
          <a:xfrm>
            <a:off x="667186" y="3905420"/>
            <a:ext cx="2898798" cy="1015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ru-RU" sz="1000" dirty="0">
                <a:sym typeface="Arial"/>
              </a:rPr>
              <a:t>Новосибирский государственный технический университет НЭТИ (НГТУ)</a:t>
            </a:r>
          </a:p>
          <a:p>
            <a:r>
              <a:rPr lang="ru-RU" sz="1000" dirty="0"/>
              <a:t>Факультет автоматики и вычислительной техники (АВТФ)</a:t>
            </a:r>
          </a:p>
          <a:p>
            <a:br>
              <a:rPr lang="ru-RU" sz="1000" dirty="0"/>
            </a:br>
            <a:r>
              <a:rPr lang="ru-RU" sz="1000" dirty="0">
                <a:sym typeface="Arial"/>
              </a:rPr>
              <a:t> </a:t>
            </a:r>
            <a:endParaRPr dirty="0"/>
          </a:p>
        </p:txBody>
      </p:sp>
      <p:sp>
        <p:nvSpPr>
          <p:cNvPr id="102" name="TextBox 20"/>
          <p:cNvSpPr txBox="1"/>
          <p:nvPr/>
        </p:nvSpPr>
        <p:spPr>
          <a:xfrm>
            <a:off x="185538" y="4640678"/>
            <a:ext cx="1992458" cy="338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lang="ru-RU" dirty="0"/>
              <a:t>Пет-проекты</a:t>
            </a:r>
            <a:endParaRPr dirty="0"/>
          </a:p>
        </p:txBody>
      </p:sp>
      <p:sp>
        <p:nvSpPr>
          <p:cNvPr id="103" name="TextBox 21"/>
          <p:cNvSpPr txBox="1"/>
          <p:nvPr/>
        </p:nvSpPr>
        <p:spPr>
          <a:xfrm>
            <a:off x="611284" y="4952899"/>
            <a:ext cx="1992459" cy="2769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2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104" name="TextBox 22"/>
          <p:cNvSpPr txBox="1"/>
          <p:nvPr/>
        </p:nvSpPr>
        <p:spPr>
          <a:xfrm>
            <a:off x="608759" y="5157400"/>
            <a:ext cx="1286112" cy="2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105" name="TextBox 23"/>
          <p:cNvSpPr txBox="1"/>
          <p:nvPr/>
        </p:nvSpPr>
        <p:spPr>
          <a:xfrm>
            <a:off x="608758" y="4983960"/>
            <a:ext cx="2774089" cy="707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Реализация алгоритмов и структур данных (</a:t>
            </a:r>
            <a:r>
              <a:rPr lang="ru-RU" dirty="0" err="1"/>
              <a:t>Shunting</a:t>
            </a:r>
            <a:r>
              <a:rPr lang="ru-RU" dirty="0"/>
              <a:t> </a:t>
            </a:r>
            <a:r>
              <a:rPr lang="ru-RU" dirty="0" err="1"/>
              <a:t>Yard</a:t>
            </a:r>
            <a:r>
              <a:rPr lang="en-US" dirty="0"/>
              <a:t>,</a:t>
            </a:r>
            <a:r>
              <a:rPr lang="ru-RU" dirty="0"/>
              <a:t> алгоритм </a:t>
            </a:r>
            <a:r>
              <a:rPr lang="ru-RU" dirty="0" err="1"/>
              <a:t>Дейкстры</a:t>
            </a:r>
            <a:r>
              <a:rPr lang="ru-RU" b="1" dirty="0"/>
              <a:t>,</a:t>
            </a:r>
            <a:r>
              <a:rPr lang="en-US" dirty="0"/>
              <a:t> </a:t>
            </a:r>
            <a:r>
              <a:rPr lang="ru-RU" dirty="0" err="1"/>
              <a:t>ring</a:t>
            </a:r>
            <a:r>
              <a:rPr lang="ru-RU" dirty="0"/>
              <a:t> </a:t>
            </a:r>
            <a:r>
              <a:rPr lang="ru-RU" dirty="0" err="1"/>
              <a:t>buffer</a:t>
            </a:r>
            <a:r>
              <a:rPr lang="ru-RU" dirty="0"/>
              <a:t>, </a:t>
            </a:r>
            <a:r>
              <a:rPr lang="ru-RU" dirty="0" err="1"/>
              <a:t>flat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en-US" dirty="0"/>
              <a:t>, </a:t>
            </a:r>
            <a:r>
              <a:rPr lang="ru-RU" dirty="0"/>
              <a:t>деревья и др.) на C++.</a:t>
            </a:r>
          </a:p>
        </p:txBody>
      </p:sp>
      <p:sp>
        <p:nvSpPr>
          <p:cNvPr id="106" name="TextBox 24"/>
          <p:cNvSpPr txBox="1"/>
          <p:nvPr/>
        </p:nvSpPr>
        <p:spPr>
          <a:xfrm>
            <a:off x="2197207" y="5157400"/>
            <a:ext cx="1286111" cy="215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8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endParaRPr dirty="0"/>
          </a:p>
        </p:txBody>
      </p:sp>
      <p:sp>
        <p:nvSpPr>
          <p:cNvPr id="111" name="TextBox 29"/>
          <p:cNvSpPr txBox="1"/>
          <p:nvPr/>
        </p:nvSpPr>
        <p:spPr>
          <a:xfrm>
            <a:off x="3799456" y="3124980"/>
            <a:ext cx="1992457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t>Навыки</a:t>
            </a:r>
          </a:p>
        </p:txBody>
      </p:sp>
      <p:sp>
        <p:nvSpPr>
          <p:cNvPr id="112" name="TextBox 30"/>
          <p:cNvSpPr txBox="1"/>
          <p:nvPr/>
        </p:nvSpPr>
        <p:spPr>
          <a:xfrm>
            <a:off x="3785656" y="3489469"/>
            <a:ext cx="1667545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000">
                <a:latin typeface="+mn-lt"/>
                <a:ea typeface="+mn-ea"/>
                <a:cs typeface="+mn-cs"/>
                <a:sym typeface="Arial"/>
              </a:defRPr>
            </a:pPr>
            <a:endParaRPr dirty="0"/>
          </a:p>
        </p:txBody>
      </p:sp>
      <p:sp>
        <p:nvSpPr>
          <p:cNvPr id="113" name="TextBox 31"/>
          <p:cNvSpPr txBox="1"/>
          <p:nvPr/>
        </p:nvSpPr>
        <p:spPr>
          <a:xfrm>
            <a:off x="3799455" y="3436343"/>
            <a:ext cx="2179481" cy="1448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8" tIns="45718" rIns="45718" bIns="45718">
            <a:spAutoFit/>
          </a:bodyPr>
          <a:lstStyle/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en-US" sz="1000" dirty="0">
                <a:sym typeface="Arial"/>
              </a:rPr>
              <a:t>C++17/20: STL</a:t>
            </a:r>
            <a:r>
              <a:rPr lang="ru-RU" sz="1000" dirty="0">
                <a:sym typeface="Arial"/>
              </a:rPr>
              <a:t>, </a:t>
            </a:r>
            <a:r>
              <a:rPr lang="en-US" sz="1000" dirty="0">
                <a:sym typeface="Arial"/>
              </a:rPr>
              <a:t>RAII</a:t>
            </a:r>
            <a:r>
              <a:rPr lang="ru-RU" sz="1000" dirty="0">
                <a:sym typeface="Arial"/>
              </a:rPr>
              <a:t>,</a:t>
            </a:r>
            <a:r>
              <a:rPr lang="en-US" sz="1000" dirty="0">
                <a:sym typeface="Arial"/>
              </a:rPr>
              <a:t> </a:t>
            </a:r>
            <a:r>
              <a:rPr lang="en-US" sz="1000" dirty="0" err="1">
                <a:sym typeface="Arial"/>
              </a:rPr>
              <a:t>CMake</a:t>
            </a:r>
            <a:r>
              <a:rPr lang="en-US" sz="1000" dirty="0">
                <a:sym typeface="Arial"/>
              </a:rPr>
              <a:t>,</a:t>
            </a:r>
            <a:r>
              <a:rPr lang="ru-RU" sz="1000" dirty="0">
                <a:sym typeface="Arial"/>
              </a:rPr>
              <a:t> </a:t>
            </a:r>
            <a:r>
              <a:rPr lang="en-US" sz="1000" dirty="0">
                <a:sym typeface="Arial"/>
              </a:rPr>
              <a:t>Move-</a:t>
            </a:r>
            <a:r>
              <a:rPr lang="ru-RU" sz="1000" dirty="0">
                <a:sym typeface="Arial"/>
              </a:rPr>
              <a:t>семантика</a:t>
            </a:r>
            <a:endParaRPr lang="ru-RU" dirty="0"/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ru-RU" dirty="0"/>
              <a:t>ООП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en-US" dirty="0"/>
              <a:t>Git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en-US" dirty="0"/>
              <a:t>Bash</a:t>
            </a:r>
            <a:endParaRPr dirty="0"/>
          </a:p>
          <a:p>
            <a:pPr marL="171450" indent="-171450">
              <a:lnSpc>
                <a:spcPct val="150000"/>
              </a:lnSpc>
              <a:buSzPct val="100000"/>
              <a:buFont typeface="Arial"/>
              <a:buChar char="•"/>
              <a:defRPr sz="1000">
                <a:latin typeface="+mn-lt"/>
                <a:ea typeface="+mn-ea"/>
                <a:cs typeface="+mn-cs"/>
                <a:sym typeface="Arial"/>
              </a:defRPr>
            </a:pPr>
            <a:r>
              <a:rPr lang="en-US" dirty="0"/>
              <a:t>SQL</a:t>
            </a:r>
            <a:endParaRPr dirty="0"/>
          </a:p>
        </p:txBody>
      </p:sp>
      <p:sp>
        <p:nvSpPr>
          <p:cNvPr id="114" name="РЕЗЮМЕ"/>
          <p:cNvSpPr txBox="1">
            <a:spLocks noGrp="1"/>
          </p:cNvSpPr>
          <p:nvPr>
            <p:ph type="ctrTitle"/>
          </p:nvPr>
        </p:nvSpPr>
        <p:spPr>
          <a:xfrm>
            <a:off x="207488" y="181614"/>
            <a:ext cx="2462391" cy="563909"/>
          </a:xfrm>
          <a:prstGeom prst="rect">
            <a:avLst/>
          </a:prstGeom>
          <a:solidFill>
            <a:srgbClr val="B6A3FF"/>
          </a:solidFill>
        </p:spPr>
        <p:txBody>
          <a:bodyPr lIns="0" tIns="0" rIns="0" bIns="0" anchor="ctr">
            <a:normAutofit fontScale="90000"/>
          </a:bodyPr>
          <a:lstStyle>
            <a:lvl1pPr defTabSz="1828800">
              <a:lnSpc>
                <a:spcPct val="100000"/>
              </a:lnSpc>
              <a:defRPr sz="4000">
                <a:solidFill>
                  <a:srgbClr val="201B10"/>
                </a:solidFill>
              </a:defRPr>
            </a:lvl1pPr>
          </a:lstStyle>
          <a:p>
            <a:r>
              <a:t>РЕЗЮМЕ</a:t>
            </a:r>
          </a:p>
        </p:txBody>
      </p:sp>
      <p:pic>
        <p:nvPicPr>
          <p:cNvPr id="115" name="Рисунок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1"/>
          <a:stretch>
            <a:fillRect/>
          </a:stretch>
        </p:blipFill>
        <p:spPr>
          <a:xfrm>
            <a:off x="4865899" y="219796"/>
            <a:ext cx="1174603" cy="171634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TextBox 14"/>
          <p:cNvSpPr txBox="1"/>
          <p:nvPr/>
        </p:nvSpPr>
        <p:spPr>
          <a:xfrm>
            <a:off x="2840327" y="1473983"/>
            <a:ext cx="1286113" cy="2462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000">
                <a:solidFill>
                  <a:srgbClr val="747474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>
                <a:hlinkClick r:id="rId5"/>
              </a:rPr>
              <a:t>@</a:t>
            </a:r>
            <a:r>
              <a:rPr lang="en-US" dirty="0">
                <a:hlinkClick r:id="rId5"/>
              </a:rPr>
              <a:t>sadguyfree</a:t>
            </a:r>
            <a:endParaRPr dirty="0"/>
          </a:p>
        </p:txBody>
      </p:sp>
      <p:grpSp>
        <p:nvGrpSpPr>
          <p:cNvPr id="119" name="НАПРАВЛЕНИЕ/ДОЛЖНОСТЬ"/>
          <p:cNvGrpSpPr/>
          <p:nvPr/>
        </p:nvGrpSpPr>
        <p:grpSpPr>
          <a:xfrm>
            <a:off x="194487" y="2602424"/>
            <a:ext cx="4426691" cy="386563"/>
            <a:chOff x="0" y="-1"/>
            <a:chExt cx="4426690" cy="386562"/>
          </a:xfrm>
        </p:grpSpPr>
        <p:sp>
          <p:nvSpPr>
            <p:cNvPr id="117" name="Прямоугольник"/>
            <p:cNvSpPr/>
            <p:nvPr/>
          </p:nvSpPr>
          <p:spPr>
            <a:xfrm>
              <a:off x="0" y="-1"/>
              <a:ext cx="4426690" cy="386562"/>
            </a:xfrm>
            <a:prstGeom prst="rect">
              <a:avLst/>
            </a:prstGeom>
            <a:solidFill>
              <a:srgbClr val="B6A3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 defTabSz="1828800">
                <a:defRPr sz="2400">
                  <a:solidFill>
                    <a:srgbClr val="201B10"/>
                  </a:solidFill>
                  <a:latin typeface="+mn-lt"/>
                  <a:ea typeface="+mn-ea"/>
                  <a:cs typeface="+mn-cs"/>
                  <a:sym typeface="Arial"/>
                </a:defRPr>
              </a:pPr>
              <a:endParaRPr/>
            </a:p>
          </p:txBody>
        </p:sp>
        <p:sp>
          <p:nvSpPr>
            <p:cNvPr id="118" name="НАПРАВЛЕНИЕ/ДОЛЖНОСТЬ"/>
            <p:cNvSpPr txBox="1"/>
            <p:nvPr/>
          </p:nvSpPr>
          <p:spPr>
            <a:xfrm>
              <a:off x="0" y="8615"/>
              <a:ext cx="4426690" cy="3693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828800">
                <a:defRPr sz="2400">
                  <a:solidFill>
                    <a:srgbClr val="201B10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</a:lstStyle>
            <a:p>
              <a:r>
                <a:rPr lang="en-US" dirty="0"/>
                <a:t>C++ </a:t>
              </a:r>
              <a:r>
                <a:rPr lang="ru-RU" dirty="0"/>
                <a:t>РАЗРАБОТЧИК</a:t>
              </a:r>
              <a:endParaRPr dirty="0"/>
            </a:p>
          </p:txBody>
        </p:sp>
      </p:grpSp>
      <p:sp>
        <p:nvSpPr>
          <p:cNvPr id="120" name="TextBox 20"/>
          <p:cNvSpPr txBox="1"/>
          <p:nvPr/>
        </p:nvSpPr>
        <p:spPr>
          <a:xfrm>
            <a:off x="199936" y="5783127"/>
            <a:ext cx="1992458" cy="313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 err="1"/>
              <a:t>Другое</a:t>
            </a:r>
            <a:endParaRPr dirty="0"/>
          </a:p>
        </p:txBody>
      </p:sp>
      <p:sp>
        <p:nvSpPr>
          <p:cNvPr id="121" name="TextBox 27"/>
          <p:cNvSpPr txBox="1"/>
          <p:nvPr/>
        </p:nvSpPr>
        <p:spPr>
          <a:xfrm>
            <a:off x="608758" y="6132932"/>
            <a:ext cx="2774089" cy="13234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000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Принимал участие в «Тренировках: от алгоритмов к стажировке» 2026</a:t>
            </a:r>
            <a:r>
              <a:rPr lang="en-US" dirty="0"/>
              <a:t>.</a:t>
            </a:r>
            <a:endParaRPr lang="ru-RU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Делал небольших </a:t>
            </a:r>
            <a:r>
              <a:rPr lang="ru-RU" dirty="0" err="1"/>
              <a:t>Telegram</a:t>
            </a:r>
            <a:r>
              <a:rPr lang="ru-RU" dirty="0"/>
              <a:t>-ботов на </a:t>
            </a:r>
            <a:r>
              <a:rPr lang="en-US" dirty="0"/>
              <a:t>Python</a:t>
            </a:r>
            <a:r>
              <a:rPr lang="ru-RU" dirty="0"/>
              <a:t> на заказ с интеграцией </a:t>
            </a:r>
            <a:r>
              <a:rPr lang="ru-RU" dirty="0" err="1"/>
              <a:t>SQLite</a:t>
            </a:r>
            <a:r>
              <a:rPr lang="ru-RU" dirty="0"/>
              <a:t> (сбор заявок, управление заказами).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Интерес вызывают задачи, требующие нестандартного подхода и выхода за рамки привычного.</a:t>
            </a:r>
          </a:p>
        </p:txBody>
      </p:sp>
      <p:pic>
        <p:nvPicPr>
          <p:cNvPr id="122" name="pasted-movie.png" descr="pasted-movi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5427" y="7190603"/>
            <a:ext cx="2164712" cy="1520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asted-movie.png" descr="pasted-movi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2512" y="796014"/>
            <a:ext cx="563911" cy="56391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ptos"/>
            <a:ea typeface="Aptos"/>
            <a:cs typeface="Aptos"/>
            <a:sym typeface="Aptos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134</Words>
  <Application>Microsoft Office PowerPoint</Application>
  <PresentationFormat>Произвольный</PresentationFormat>
  <Paragraphs>25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Aptos</vt:lpstr>
      <vt:lpstr>Arial</vt:lpstr>
      <vt:lpstr>Тема Office</vt:lpstr>
      <vt:lpstr>РЕЗЮМЕ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Владислав Мокринский</dc:creator>
  <cp:lastModifiedBy>Владислав Мокринский</cp:lastModifiedBy>
  <cp:revision>2</cp:revision>
  <dcterms:modified xsi:type="dcterms:W3CDTF">2026-04-09T12:08:50Z</dcterms:modified>
</cp:coreProperties>
</file>